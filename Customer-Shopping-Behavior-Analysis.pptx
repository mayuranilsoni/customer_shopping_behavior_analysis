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"/>
      <p:regular r:id="rId17"/>
    </p:embeddedFont>
    <p:embeddedFont>
      <p:font typeface="Outfit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  <p:embeddedFont>
      <p:font typeface="Bit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Insights from 3,900 purchases to drive smarter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19393"/>
            <a:ext cx="11048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Goal: Understanding the Customer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5182195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Spending Habits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639282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Who spends what, and how much?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</p:sp>
      <p:sp>
        <p:nvSpPr>
          <p:cNvPr id="10" name="Shape 6"/>
          <p:cNvSpPr/>
          <p:nvPr/>
        </p:nvSpPr>
        <p:spPr>
          <a:xfrm>
            <a:off x="5443776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5182195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3776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Product Popularity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43776" y="639282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items are bought most often?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</p:sp>
      <p:sp>
        <p:nvSpPr>
          <p:cNvPr id="15" name="Shape 10"/>
          <p:cNvSpPr/>
          <p:nvPr/>
        </p:nvSpPr>
        <p:spPr>
          <a:xfrm>
            <a:off x="9866948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4114" y="5182195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6948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Subscription Impact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866948" y="639282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Are customers subscribing to our service?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38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Data Snapshot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195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8417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foundation of our analysis.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3195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Details Tracked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84179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points per purchase (e.g., age, price, rating, shipping).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3195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37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Missing Data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8417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scores filled in for accuracy.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8227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raw data required careful preparation before deep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9237821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Preparation: Cleaning and Structuring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9866" y="1729145"/>
            <a:ext cx="184309" cy="82974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/>
        </p:spPr>
      </p:sp>
      <p:sp>
        <p:nvSpPr>
          <p:cNvPr id="4" name="Shape 2"/>
          <p:cNvSpPr/>
          <p:nvPr/>
        </p:nvSpPr>
        <p:spPr>
          <a:xfrm>
            <a:off x="645438" y="1608058"/>
            <a:ext cx="553164" cy="553164"/>
          </a:xfrm>
          <a:prstGeom prst="roundRect">
            <a:avLst>
              <a:gd name="adj" fmla="val 82652"/>
            </a:avLst>
          </a:prstGeom>
          <a:solidFill>
            <a:srgbClr val="3B3C3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3669" y="1746290"/>
            <a:ext cx="276582" cy="276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2911" y="163687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Load and Check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82911" y="2035612"/>
            <a:ext cx="1260205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Opened data and verified basic structure.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106448" y="3019901"/>
            <a:ext cx="184309" cy="82974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/>
        </p:spPr>
      </p:sp>
      <p:sp>
        <p:nvSpPr>
          <p:cNvPr id="9" name="Shape 6"/>
          <p:cNvSpPr/>
          <p:nvPr/>
        </p:nvSpPr>
        <p:spPr>
          <a:xfrm>
            <a:off x="922020" y="2898815"/>
            <a:ext cx="553164" cy="553164"/>
          </a:xfrm>
          <a:prstGeom prst="roundRect">
            <a:avLst>
              <a:gd name="adj" fmla="val 82652"/>
            </a:avLst>
          </a:prstGeom>
          <a:solidFill>
            <a:srgbClr val="3B3C3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252" y="3037046"/>
            <a:ext cx="276582" cy="2765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59493" y="292762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Fill Missing Scores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59493" y="3326368"/>
            <a:ext cx="1232546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Used median rating per product type for missing reviews.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383030" y="4310658"/>
            <a:ext cx="184309" cy="82974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/>
        </p:spPr>
      </p:sp>
      <p:sp>
        <p:nvSpPr>
          <p:cNvPr id="14" name="Shape 10"/>
          <p:cNvSpPr/>
          <p:nvPr/>
        </p:nvSpPr>
        <p:spPr>
          <a:xfrm>
            <a:off x="1198602" y="4189571"/>
            <a:ext cx="553164" cy="553164"/>
          </a:xfrm>
          <a:prstGeom prst="roundRect">
            <a:avLst>
              <a:gd name="adj" fmla="val 82652"/>
            </a:avLst>
          </a:prstGeom>
          <a:solidFill>
            <a:srgbClr val="3B3C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6834" y="4327803"/>
            <a:ext cx="276582" cy="2765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36075" y="4218384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Tidying Up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936075" y="4617125"/>
            <a:ext cx="1204888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Renamed columns for simplicity (e.g., 'ItemPurchased' to 'item purchased').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659731" y="5601414"/>
            <a:ext cx="184309" cy="82974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/>
        </p:spPr>
      </p:sp>
      <p:sp>
        <p:nvSpPr>
          <p:cNvPr id="19" name="Shape 14"/>
          <p:cNvSpPr/>
          <p:nvPr/>
        </p:nvSpPr>
        <p:spPr>
          <a:xfrm>
            <a:off x="1475303" y="5480328"/>
            <a:ext cx="553164" cy="553164"/>
          </a:xfrm>
          <a:prstGeom prst="roundRect">
            <a:avLst>
              <a:gd name="adj" fmla="val 82652"/>
            </a:avLst>
          </a:prstGeom>
          <a:solidFill>
            <a:srgbClr val="3B3C3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3535" y="5618559"/>
            <a:ext cx="276582" cy="2765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12777" y="550914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New Insights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212777" y="5907881"/>
            <a:ext cx="11772186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Age Groups and calculated days between purchases.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383030" y="6892171"/>
            <a:ext cx="184309" cy="829747"/>
          </a:xfrm>
          <a:prstGeom prst="roundRect">
            <a:avLst>
              <a:gd name="adj" fmla="val 15009"/>
            </a:avLst>
          </a:prstGeom>
          <a:solidFill>
            <a:srgbClr val="3B3C3E"/>
          </a:solidFill>
          <a:ln/>
        </p:spPr>
      </p:sp>
      <p:sp>
        <p:nvSpPr>
          <p:cNvPr id="24" name="Shape 18"/>
          <p:cNvSpPr/>
          <p:nvPr/>
        </p:nvSpPr>
        <p:spPr>
          <a:xfrm>
            <a:off x="1198602" y="6771084"/>
            <a:ext cx="553164" cy="553164"/>
          </a:xfrm>
          <a:prstGeom prst="roundRect">
            <a:avLst>
              <a:gd name="adj" fmla="val 82652"/>
            </a:avLst>
          </a:prstGeom>
          <a:solidFill>
            <a:srgbClr val="3B3C3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36834" y="6909316"/>
            <a:ext cx="276582" cy="27658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36075" y="679989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Ready for SQL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936075" y="7198638"/>
            <a:ext cx="1204888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Saved cleaned data to PostgreSQL for detailed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62182"/>
            <a:ext cx="78095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Findings: Revenue Drivers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379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Spending by Gender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900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Analyzed which gender contributes more to total sales.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808095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253793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Revenue by Age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599521" y="31900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the age groups that generate the most revenue.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3808095"/>
            <a:ext cx="22860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3790" y="66043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Understanding demographic spending is crucial for targeted marketing.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88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Findings: Product &amp; Discount Behavior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86539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3310" y="278653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3043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Best Loved Products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3534251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5 products based on the highest average review score.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786539"/>
            <a:ext cx="3664863" cy="2093714"/>
          </a:xfrm>
          <a:prstGeom prst="roundRect">
            <a:avLst>
              <a:gd name="adj" fmla="val 6988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4868" y="2786539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0" name="Text 7"/>
          <p:cNvSpPr/>
          <p:nvPr/>
        </p:nvSpPr>
        <p:spPr>
          <a:xfrm>
            <a:off x="5034082" y="30438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Discount Only Items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34082" y="3534251"/>
            <a:ext cx="3058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5 products most often purchased only when a discount is applied.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107067"/>
            <a:ext cx="3664744" cy="2093714"/>
          </a:xfrm>
          <a:prstGeom prst="roundRect">
            <a:avLst>
              <a:gd name="adj" fmla="val 6988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310" y="5107067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</p:sp>
      <p:sp>
        <p:nvSpPr>
          <p:cNvPr id="14" name="Text 11"/>
          <p:cNvSpPr/>
          <p:nvPr/>
        </p:nvSpPr>
        <p:spPr>
          <a:xfrm>
            <a:off x="1142524" y="5364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Smart Discount Users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2524" y="5854779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Customers who used a discount but still spent above average.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10069949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Findings: Loyalty and Subscriptions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098" y="1755219"/>
            <a:ext cx="4170998" cy="41709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0098" y="6149102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Customer Groups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80098" y="6631067"/>
            <a:ext cx="417099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Categorized buyers as New, Returning, or Loyal based on purchase history.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701" y="1755219"/>
            <a:ext cx="4170998" cy="41709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9701" y="6149102"/>
            <a:ext cx="2850356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Subscribers vs. Others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29701" y="6631067"/>
            <a:ext cx="4170998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Compared total revenue and average spend between subscribers and non-subscribers.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305" y="1755219"/>
            <a:ext cx="4170998" cy="41709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9305" y="6149102"/>
            <a:ext cx="2969538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Loyalty &amp; Subscriptions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679305" y="6631067"/>
            <a:ext cx="417099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Determined if customers with 5+ purchases are more likely to subscribe.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9817"/>
            <a:ext cx="123057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Findings: Shipping and Category Deep Dive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557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Shipping Impact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176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Does the purchase amount differ between Standard and Express shipping?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298633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2665571"/>
            <a:ext cx="34928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Top Items by Category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599521" y="331767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the three most purchased products within each major product category (e.g., Apparel).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521" y="4298633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396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Visualizing the Data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88550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Interactive Dashboard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6280190" y="586406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All findings are consolidated into an interactive Power BI dashboard for easy exploration and monitoring.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438" y="507563"/>
            <a:ext cx="5999678" cy="576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Strategic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438" y="1452563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875943" y="1832848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567339" y="163687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Grow Subscriptions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67339" y="2035612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Offer exclusive perks to boost sign-ups and recurring revenue.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5438" y="274331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875943" y="3123605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567339" y="292762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Reward Loyalty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67339" y="332636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 a rewards program to convert returning customers into high-value buyers.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5438" y="4034076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875943" y="4414361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567339" y="4218384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Fine-Tune Discounts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67339" y="4617125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discount strategy to maximize sales without hurting profit margins.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5438" y="5324832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3B3C3E"/>
          </a:solidFill>
          <a:ln/>
        </p:spPr>
      </p:sp>
      <p:sp>
        <p:nvSpPr>
          <p:cNvPr id="16" name="Text 14"/>
          <p:cNvSpPr/>
          <p:nvPr/>
        </p:nvSpPr>
        <p:spPr>
          <a:xfrm>
            <a:off x="875943" y="5705118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567339" y="5509141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Showcase the Best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67339" y="5907881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Highlight top-rated and best-selling products in marketing campaigns.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5438" y="6615589"/>
            <a:ext cx="737592" cy="1106448"/>
          </a:xfrm>
          <a:prstGeom prst="roundRect">
            <a:avLst>
              <a:gd name="adj" fmla="val 360034"/>
            </a:avLst>
          </a:prstGeom>
          <a:solidFill>
            <a:srgbClr val="3B3C3E"/>
          </a:solidFill>
          <a:ln/>
        </p:spPr>
      </p:sp>
      <p:sp>
        <p:nvSpPr>
          <p:cNvPr id="20" name="Text 18"/>
          <p:cNvSpPr/>
          <p:nvPr/>
        </p:nvSpPr>
        <p:spPr>
          <a:xfrm>
            <a:off x="875943" y="6995874"/>
            <a:ext cx="276582" cy="345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567339" y="6799898"/>
            <a:ext cx="2305169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Focus Your Ads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67339" y="7198638"/>
            <a:ext cx="1241762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Target high-spending age groups and customers who choose Express shipping.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2025-11-09T18:59:34Z</dcterms:created>
  <dcterms:modified xsi:type="dcterms:W3CDTF">2025-11-09T18:59:34Z</dcterms:modified>
</cp:coreProperties>
</file>